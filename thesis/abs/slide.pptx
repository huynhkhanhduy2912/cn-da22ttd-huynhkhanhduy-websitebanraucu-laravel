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86" r:id="rId2"/>
    <p:sldId id="287" r:id="rId3"/>
    <p:sldId id="288" r:id="rId4"/>
    <p:sldId id="289" r:id="rId5"/>
    <p:sldId id="290" r:id="rId6"/>
    <p:sldId id="291" r:id="rId7"/>
    <p:sldId id="292" r:id="rId8"/>
    <p:sldId id="294" r:id="rId9"/>
    <p:sldId id="296" r:id="rId10"/>
    <p:sldId id="298" r:id="rId11"/>
    <p:sldId id="300" r:id="rId12"/>
    <p:sldId id="29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y Huỳnh Khánh" initials="DHK" lastIdx="1" clrIdx="0">
    <p:extLst>
      <p:ext uri="{19B8F6BF-5375-455C-9EA6-DF929625EA0E}">
        <p15:presenceInfo xmlns:p15="http://schemas.microsoft.com/office/powerpoint/2012/main" userId="72513f2d8be0add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0293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97733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7671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03312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6882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91600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96904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62673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87412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29322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1291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3807F0-D2E2-41C3-BF91-5EF96A727016}" type="datetimeFigureOut">
              <a:rPr lang="en-US" smtClean="0">
                <a:solidFill>
                  <a:prstClr val="black">
                    <a:tint val="75000"/>
                  </a:prstClr>
                </a:solidFill>
              </a:rPr>
              <a:pPr/>
              <a:t>12/28/2025</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08C18C-908A-437D-9F73-D870F8D7AC91}"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649631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 xmlns:a16="http://schemas.microsoft.com/office/drawing/2014/main" id="{FB25E5FE-1928-3F2B-5E6F-B4C9050ABB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635" y="119889"/>
            <a:ext cx="1463040" cy="1445791"/>
          </a:xfrm>
          <a:prstGeom prst="rect">
            <a:avLst/>
          </a:prstGeom>
        </p:spPr>
      </p:pic>
      <p:sp>
        <p:nvSpPr>
          <p:cNvPr id="18" name="Title 1">
            <a:extLst>
              <a:ext uri="{FF2B5EF4-FFF2-40B4-BE49-F238E27FC236}">
                <a16:creationId xmlns="" xmlns:a16="http://schemas.microsoft.com/office/drawing/2014/main" id="{F7EEBBFF-51FA-4D69-0ABE-6B706BF5BD63}"/>
              </a:ext>
            </a:extLst>
          </p:cNvPr>
          <p:cNvSpPr>
            <a:spLocks noGrp="1"/>
          </p:cNvSpPr>
          <p:nvPr>
            <p:ph type="ctrTitle"/>
          </p:nvPr>
        </p:nvSpPr>
        <p:spPr>
          <a:xfrm>
            <a:off x="1524000" y="272221"/>
            <a:ext cx="9144000" cy="1293459"/>
          </a:xfrm>
        </p:spPr>
        <p:txBody>
          <a:bodyPr>
            <a:normAutofit/>
          </a:bodyPr>
          <a:lstStyle/>
          <a:p>
            <a:r>
              <a:rPr lang="vi-VN" sz="3600" b="1">
                <a:latin typeface="Calibri" panose="020F0502020204030204" pitchFamily="34" charset="0"/>
                <a:ea typeface="Calibri" panose="020F0502020204030204" pitchFamily="34" charset="0"/>
                <a:cs typeface="Calibri" panose="020F0502020204030204" pitchFamily="34" charset="0"/>
              </a:rPr>
              <a:t>TRƯỜNG </a:t>
            </a:r>
            <a:r>
              <a:rPr lang="en-US" sz="3600" b="1" smtClean="0">
                <a:latin typeface="Calibri" panose="020F0502020204030204" pitchFamily="34" charset="0"/>
                <a:ea typeface="Calibri" panose="020F0502020204030204" pitchFamily="34" charset="0"/>
                <a:cs typeface="Calibri" panose="020F0502020204030204" pitchFamily="34" charset="0"/>
              </a:rPr>
              <a:t>K</a:t>
            </a:r>
            <a:r>
              <a:rPr lang="vi-VN" sz="3600" b="1" smtClean="0">
                <a:latin typeface="Calibri" panose="020F0502020204030204" pitchFamily="34" charset="0"/>
                <a:ea typeface="Calibri" panose="020F0502020204030204" pitchFamily="34" charset="0"/>
                <a:cs typeface="Calibri" panose="020F0502020204030204" pitchFamily="34" charset="0"/>
              </a:rPr>
              <a:t>Ỹ </a:t>
            </a:r>
            <a:r>
              <a:rPr lang="vi-VN" sz="3600" b="1">
                <a:latin typeface="Calibri" panose="020F0502020204030204" pitchFamily="34" charset="0"/>
                <a:ea typeface="Calibri" panose="020F0502020204030204" pitchFamily="34" charset="0"/>
                <a:cs typeface="Calibri" panose="020F0502020204030204" pitchFamily="34" charset="0"/>
              </a:rPr>
              <a:t>THUẬT VÀ CÔNG </a:t>
            </a:r>
            <a:r>
              <a:rPr lang="vi-VN" sz="3600" b="1" smtClean="0">
                <a:latin typeface="Calibri" panose="020F0502020204030204" pitchFamily="34" charset="0"/>
                <a:ea typeface="Calibri" panose="020F0502020204030204" pitchFamily="34" charset="0"/>
                <a:cs typeface="Calibri" panose="020F0502020204030204" pitchFamily="34" charset="0"/>
              </a:rPr>
              <a:t>NGHỆ</a:t>
            </a:r>
            <a:r>
              <a:rPr lang="en-US" sz="3600" b="1" smtClean="0">
                <a:latin typeface="Calibri" panose="020F0502020204030204" pitchFamily="34" charset="0"/>
                <a:ea typeface="Calibri" panose="020F0502020204030204" pitchFamily="34" charset="0"/>
                <a:cs typeface="Calibri" panose="020F0502020204030204" pitchFamily="34" charset="0"/>
              </a:rPr>
              <a:t/>
            </a:r>
            <a:br>
              <a:rPr lang="en-US" sz="3600" b="1" smtClean="0">
                <a:latin typeface="Calibri" panose="020F0502020204030204" pitchFamily="34" charset="0"/>
                <a:ea typeface="Calibri" panose="020F0502020204030204" pitchFamily="34" charset="0"/>
                <a:cs typeface="Calibri" panose="020F0502020204030204" pitchFamily="34" charset="0"/>
              </a:rPr>
            </a:br>
            <a:r>
              <a:rPr lang="en-US" sz="3600" b="1" smtClean="0">
                <a:latin typeface="Calibri" panose="020F0502020204030204" pitchFamily="34" charset="0"/>
                <a:ea typeface="Calibri" panose="020F0502020204030204" pitchFamily="34" charset="0"/>
                <a:cs typeface="Calibri" panose="020F0502020204030204" pitchFamily="34" charset="0"/>
              </a:rPr>
              <a:t>KHOA CÔNG NGHỆ THÔNG TIN</a:t>
            </a:r>
            <a:endParaRPr lang="en-US" sz="3600" b="1">
              <a:latin typeface="Calibri" panose="020F0502020204030204" pitchFamily="34" charset="0"/>
              <a:ea typeface="Calibri" panose="020F0502020204030204" pitchFamily="34" charset="0"/>
              <a:cs typeface="Calibri" panose="020F0502020204030204" pitchFamily="34" charset="0"/>
            </a:endParaRPr>
          </a:p>
        </p:txBody>
      </p:sp>
      <p:sp>
        <p:nvSpPr>
          <p:cNvPr id="19" name="Subtitle 2">
            <a:extLst>
              <a:ext uri="{FF2B5EF4-FFF2-40B4-BE49-F238E27FC236}">
                <a16:creationId xmlns="" xmlns:a16="http://schemas.microsoft.com/office/drawing/2014/main" id="{76FA6A32-54D7-69E4-CEF6-450DAD2AF66D}"/>
              </a:ext>
            </a:extLst>
          </p:cNvPr>
          <p:cNvSpPr>
            <a:spLocks noGrp="1"/>
          </p:cNvSpPr>
          <p:nvPr>
            <p:ph type="subTitle" idx="1"/>
          </p:nvPr>
        </p:nvSpPr>
        <p:spPr>
          <a:xfrm>
            <a:off x="0" y="1828801"/>
            <a:ext cx="12192000" cy="4741332"/>
          </a:xfrm>
        </p:spPr>
        <p:txBody>
          <a:bodyPr>
            <a:normAutofit/>
          </a:bodyPr>
          <a:lstStyle/>
          <a:p>
            <a:r>
              <a:rPr lang="en-US" sz="3200" b="1">
                <a:cs typeface="Times New Roman" panose="02020603050405020304" pitchFamily="18" charset="0"/>
              </a:rPr>
              <a:t>BÁO CÁO THỰC </a:t>
            </a:r>
            <a:r>
              <a:rPr lang="en-US" sz="3200" b="1" smtClean="0">
                <a:cs typeface="Times New Roman" panose="02020603050405020304" pitchFamily="18" charset="0"/>
              </a:rPr>
              <a:t>TẬP ĐỒ ÁN CHUYÊN NGÀNH</a:t>
            </a:r>
          </a:p>
          <a:p>
            <a:r>
              <a:rPr lang="en-US" sz="3000" smtClean="0">
                <a:cs typeface="Times New Roman" panose="02020603050405020304" pitchFamily="18" charset="0"/>
              </a:rPr>
              <a:t>ĐỀ TÀI: XÂY DỰNG WEBSITE BÁN RAU CỦ BẰNG LARAVEL</a:t>
            </a:r>
          </a:p>
          <a:p>
            <a:endParaRPr lang="en-US" sz="3200" smtClean="0">
              <a:cs typeface="Times New Roman" panose="02020603050405020304" pitchFamily="18" charset="0"/>
            </a:endParaRPr>
          </a:p>
          <a:p>
            <a:endParaRPr lang="en-US" sz="3200" smtClean="0">
              <a:cs typeface="Times New Roman" panose="02020603050405020304" pitchFamily="18" charset="0"/>
            </a:endParaRPr>
          </a:p>
          <a:p>
            <a:pPr algn="l"/>
            <a:r>
              <a:rPr lang="en-US" sz="2800" smtClean="0">
                <a:cs typeface="Times New Roman" panose="02020603050405020304" pitchFamily="18" charset="0"/>
              </a:rPr>
              <a:t>     	</a:t>
            </a:r>
            <a:r>
              <a:rPr lang="en-US" sz="2800" b="1" err="1" smtClean="0">
                <a:cs typeface="Times New Roman" panose="02020603050405020304" pitchFamily="18" charset="0"/>
              </a:rPr>
              <a:t>Giáo</a:t>
            </a:r>
            <a:r>
              <a:rPr lang="en-US" sz="2800" b="1" smtClean="0">
                <a:cs typeface="Times New Roman" panose="02020603050405020304" pitchFamily="18" charset="0"/>
              </a:rPr>
              <a:t> </a:t>
            </a:r>
            <a:r>
              <a:rPr lang="en-US" sz="2800" b="1" err="1" smtClean="0">
                <a:cs typeface="Times New Roman" panose="02020603050405020304" pitchFamily="18" charset="0"/>
              </a:rPr>
              <a:t>viên</a:t>
            </a:r>
            <a:r>
              <a:rPr lang="en-US" sz="2800" b="1" smtClean="0">
                <a:cs typeface="Times New Roman" panose="02020603050405020304" pitchFamily="18" charset="0"/>
              </a:rPr>
              <a:t> </a:t>
            </a:r>
            <a:r>
              <a:rPr lang="en-US" sz="2800" b="1" err="1" smtClean="0">
                <a:cs typeface="Times New Roman" panose="02020603050405020304" pitchFamily="18" charset="0"/>
              </a:rPr>
              <a:t>hướng</a:t>
            </a:r>
            <a:r>
              <a:rPr lang="en-US" sz="2800" b="1" smtClean="0">
                <a:cs typeface="Times New Roman" panose="02020603050405020304" pitchFamily="18" charset="0"/>
              </a:rPr>
              <a:t> </a:t>
            </a:r>
            <a:r>
              <a:rPr lang="en-US" sz="2800" b="1" err="1" smtClean="0">
                <a:cs typeface="Times New Roman" panose="02020603050405020304" pitchFamily="18" charset="0"/>
              </a:rPr>
              <a:t>dẫn</a:t>
            </a:r>
            <a:r>
              <a:rPr lang="en-US" sz="2800" b="1" smtClean="0">
                <a:cs typeface="Times New Roman" panose="02020603050405020304" pitchFamily="18" charset="0"/>
              </a:rPr>
              <a:t>:</a:t>
            </a:r>
            <a:r>
              <a:rPr lang="en-US" sz="2800" smtClean="0">
                <a:cs typeface="Times New Roman" panose="02020603050405020304" pitchFamily="18" charset="0"/>
              </a:rPr>
              <a:t>		                   </a:t>
            </a:r>
            <a:r>
              <a:rPr lang="en-US" sz="2800" b="1" err="1" smtClean="0">
                <a:cs typeface="Times New Roman" panose="02020603050405020304" pitchFamily="18" charset="0"/>
              </a:rPr>
              <a:t>Sinh</a:t>
            </a:r>
            <a:r>
              <a:rPr lang="en-US" sz="2800" b="1" smtClean="0">
                <a:cs typeface="Times New Roman" panose="02020603050405020304" pitchFamily="18" charset="0"/>
              </a:rPr>
              <a:t> </a:t>
            </a:r>
            <a:r>
              <a:rPr lang="en-US" sz="2800" b="1" err="1" smtClean="0">
                <a:cs typeface="Times New Roman" panose="02020603050405020304" pitchFamily="18" charset="0"/>
              </a:rPr>
              <a:t>viên</a:t>
            </a:r>
            <a:r>
              <a:rPr lang="en-US" sz="2800" b="1" smtClean="0">
                <a:cs typeface="Times New Roman" panose="02020603050405020304" pitchFamily="18" charset="0"/>
              </a:rPr>
              <a:t> </a:t>
            </a:r>
            <a:r>
              <a:rPr lang="en-US" sz="2800" b="1" err="1" smtClean="0">
                <a:cs typeface="Times New Roman" panose="02020603050405020304" pitchFamily="18" charset="0"/>
              </a:rPr>
              <a:t>thực</a:t>
            </a:r>
            <a:r>
              <a:rPr lang="en-US" sz="2800" b="1" smtClean="0">
                <a:cs typeface="Times New Roman" panose="02020603050405020304" pitchFamily="18" charset="0"/>
              </a:rPr>
              <a:t> </a:t>
            </a:r>
            <a:r>
              <a:rPr lang="en-US" sz="2800" b="1" err="1" smtClean="0">
                <a:cs typeface="Times New Roman" panose="02020603050405020304" pitchFamily="18" charset="0"/>
              </a:rPr>
              <a:t>hiện</a:t>
            </a:r>
            <a:r>
              <a:rPr lang="en-US" sz="2800" b="1" smtClean="0">
                <a:cs typeface="Times New Roman" panose="02020603050405020304" pitchFamily="18" charset="0"/>
              </a:rPr>
              <a:t>:</a:t>
            </a:r>
            <a:r>
              <a:rPr lang="en-US" sz="2800" smtClean="0">
                <a:cs typeface="Times New Roman" panose="02020603050405020304" pitchFamily="18" charset="0"/>
              </a:rPr>
              <a:t>                </a:t>
            </a:r>
          </a:p>
          <a:p>
            <a:pPr algn="l"/>
            <a:r>
              <a:rPr lang="en-US" sz="2800" smtClean="0">
                <a:cs typeface="Times New Roman" panose="02020603050405020304" pitchFamily="18" charset="0"/>
              </a:rPr>
              <a:t>       	</a:t>
            </a:r>
            <a:r>
              <a:rPr lang="en-US" sz="2800" err="1" smtClean="0">
                <a:cs typeface="Times New Roman" panose="02020603050405020304" pitchFamily="18" charset="0"/>
              </a:rPr>
              <a:t>ThS</a:t>
            </a:r>
            <a:r>
              <a:rPr lang="en-US" sz="2800" smtClean="0">
                <a:cs typeface="Times New Roman" panose="02020603050405020304" pitchFamily="18" charset="0"/>
              </a:rPr>
              <a:t>. Khấu Văn Nhựt</a:t>
            </a:r>
            <a:r>
              <a:rPr lang="en-US" sz="2800">
                <a:cs typeface="Times New Roman" panose="02020603050405020304" pitchFamily="18" charset="0"/>
              </a:rPr>
              <a:t>			</a:t>
            </a:r>
            <a:r>
              <a:rPr lang="en-US" sz="2800" smtClean="0">
                <a:cs typeface="Times New Roman" panose="02020603050405020304" pitchFamily="18" charset="0"/>
              </a:rPr>
              <a:t>        </a:t>
            </a:r>
            <a:r>
              <a:rPr lang="en-US" sz="2800" err="1" smtClean="0">
                <a:cs typeface="Times New Roman" panose="02020603050405020304" pitchFamily="18" charset="0"/>
              </a:rPr>
              <a:t>Họ</a:t>
            </a:r>
            <a:r>
              <a:rPr lang="en-US" sz="2800" smtClean="0">
                <a:cs typeface="Times New Roman" panose="02020603050405020304" pitchFamily="18" charset="0"/>
              </a:rPr>
              <a:t> </a:t>
            </a:r>
            <a:r>
              <a:rPr lang="en-US" sz="2800" err="1" smtClean="0">
                <a:cs typeface="Times New Roman" panose="02020603050405020304" pitchFamily="18" charset="0"/>
              </a:rPr>
              <a:t>và</a:t>
            </a:r>
            <a:r>
              <a:rPr lang="en-US" sz="2800" smtClean="0">
                <a:cs typeface="Times New Roman" panose="02020603050405020304" pitchFamily="18" charset="0"/>
              </a:rPr>
              <a:t> </a:t>
            </a:r>
            <a:r>
              <a:rPr lang="en-US" sz="2800" err="1" smtClean="0">
                <a:cs typeface="Times New Roman" panose="02020603050405020304" pitchFamily="18" charset="0"/>
              </a:rPr>
              <a:t>Tên</a:t>
            </a:r>
            <a:r>
              <a:rPr lang="en-US" sz="2800" smtClean="0">
                <a:cs typeface="Times New Roman" panose="02020603050405020304" pitchFamily="18" charset="0"/>
              </a:rPr>
              <a:t>: </a:t>
            </a:r>
            <a:r>
              <a:rPr lang="en-US" sz="2800" err="1" smtClean="0">
                <a:cs typeface="Times New Roman" panose="02020603050405020304" pitchFamily="18" charset="0"/>
              </a:rPr>
              <a:t>Huỳnh</a:t>
            </a:r>
            <a:r>
              <a:rPr lang="en-US" sz="2800" smtClean="0">
                <a:cs typeface="Times New Roman" panose="02020603050405020304" pitchFamily="18" charset="0"/>
              </a:rPr>
              <a:t> </a:t>
            </a:r>
            <a:r>
              <a:rPr lang="en-US" sz="2800" err="1" smtClean="0">
                <a:cs typeface="Times New Roman" panose="02020603050405020304" pitchFamily="18" charset="0"/>
              </a:rPr>
              <a:t>Khánh</a:t>
            </a:r>
            <a:r>
              <a:rPr lang="en-US" sz="2800" smtClean="0">
                <a:cs typeface="Times New Roman" panose="02020603050405020304" pitchFamily="18" charset="0"/>
              </a:rPr>
              <a:t> </a:t>
            </a:r>
            <a:r>
              <a:rPr lang="en-US" sz="2800" err="1" smtClean="0">
                <a:cs typeface="Times New Roman" panose="02020603050405020304" pitchFamily="18" charset="0"/>
              </a:rPr>
              <a:t>Duy</a:t>
            </a:r>
            <a:endParaRPr lang="en-US" sz="2800" smtClean="0">
              <a:cs typeface="Times New Roman" panose="02020603050405020304" pitchFamily="18" charset="0"/>
            </a:endParaRPr>
          </a:p>
          <a:p>
            <a:pPr algn="l"/>
            <a:r>
              <a:rPr lang="en-US" sz="2800">
                <a:cs typeface="Times New Roman" panose="02020603050405020304" pitchFamily="18" charset="0"/>
              </a:rPr>
              <a:t>	</a:t>
            </a:r>
            <a:r>
              <a:rPr lang="en-US" sz="2800" smtClean="0">
                <a:cs typeface="Times New Roman" panose="02020603050405020304" pitchFamily="18" charset="0"/>
              </a:rPr>
              <a:t>					</a:t>
            </a:r>
            <a:r>
              <a:rPr lang="en-US" sz="2800">
                <a:cs typeface="Times New Roman" panose="02020603050405020304" pitchFamily="18" charset="0"/>
              </a:rPr>
              <a:t>	</a:t>
            </a:r>
            <a:r>
              <a:rPr lang="en-US" sz="2800" smtClean="0">
                <a:cs typeface="Times New Roman" panose="02020603050405020304" pitchFamily="18" charset="0"/>
              </a:rPr>
              <a:t>        MSSV: 110122059 	</a:t>
            </a:r>
            <a:endParaRPr lang="en-US" sz="2800">
              <a:cs typeface="Times New Roman" panose="02020603050405020304" pitchFamily="18" charset="0"/>
            </a:endParaRPr>
          </a:p>
          <a:p>
            <a:pPr algn="l"/>
            <a:r>
              <a:rPr lang="en-US" sz="2800">
                <a:cs typeface="Times New Roman" panose="02020603050405020304" pitchFamily="18" charset="0"/>
              </a:rPr>
              <a:t>							</a:t>
            </a:r>
            <a:r>
              <a:rPr lang="en-US" sz="2800" smtClean="0">
                <a:cs typeface="Times New Roman" panose="02020603050405020304" pitchFamily="18" charset="0"/>
              </a:rPr>
              <a:t>        </a:t>
            </a:r>
            <a:r>
              <a:rPr lang="en-US" sz="2800" err="1" smtClean="0">
                <a:cs typeface="Times New Roman" panose="02020603050405020304" pitchFamily="18" charset="0"/>
              </a:rPr>
              <a:t>Lớp</a:t>
            </a:r>
            <a:r>
              <a:rPr lang="en-US" sz="2800" smtClean="0">
                <a:cs typeface="Times New Roman" panose="02020603050405020304" pitchFamily="18" charset="0"/>
              </a:rPr>
              <a:t>: DA22TTD</a:t>
            </a:r>
            <a:endParaRPr lang="en-US"/>
          </a:p>
        </p:txBody>
      </p:sp>
    </p:spTree>
    <p:extLst>
      <p:ext uri="{BB962C8B-B14F-4D97-AF65-F5344CB8AC3E}">
        <p14:creationId xmlns:p14="http://schemas.microsoft.com/office/powerpoint/2010/main" val="2704354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CÁC NỘI DUNG CHÍNH CỦA ĐỀ TÀI:</a:t>
            </a:r>
            <a:endParaRPr lang="en-US" sz="3200"/>
          </a:p>
        </p:txBody>
      </p:sp>
      <p:sp>
        <p:nvSpPr>
          <p:cNvPr id="4" name="TextBox 3"/>
          <p:cNvSpPr txBox="1"/>
          <p:nvPr/>
        </p:nvSpPr>
        <p:spPr>
          <a:xfrm>
            <a:off x="853440" y="1628503"/>
            <a:ext cx="3152466" cy="3970318"/>
          </a:xfrm>
          <a:prstGeom prst="rect">
            <a:avLst/>
          </a:prstGeom>
          <a:noFill/>
        </p:spPr>
        <p:txBody>
          <a:bodyPr wrap="none" rtlCol="0">
            <a:spAutoFit/>
          </a:bodyPr>
          <a:lstStyle/>
          <a:p>
            <a:pPr marL="342900" indent="-342900" algn="just">
              <a:lnSpc>
                <a:spcPct val="150000"/>
              </a:lnSpc>
              <a:buAutoNum type="arabicPeriod"/>
            </a:pPr>
            <a:r>
              <a:rPr lang="en-US" sz="2400" smtClean="0"/>
              <a:t>LÍ DO CHỌN ĐỀ TÀI</a:t>
            </a:r>
            <a:r>
              <a:rPr lang="en-US" sz="2400" smtClean="0">
                <a:cs typeface="Times New Roman" panose="02020603050405020304" pitchFamily="18" charset="0"/>
              </a:rPr>
              <a:t> </a:t>
            </a:r>
          </a:p>
          <a:p>
            <a:pPr marL="342900" indent="-342900" algn="just">
              <a:lnSpc>
                <a:spcPct val="150000"/>
              </a:lnSpc>
              <a:buAutoNum type="arabicPeriod"/>
            </a:pPr>
            <a:r>
              <a:rPr lang="en-US" sz="2400" smtClean="0">
                <a:cs typeface="Times New Roman" panose="02020603050405020304" pitchFamily="18" charset="0"/>
              </a:rPr>
              <a:t>CƠ SỞ LÝ THUYẾT</a:t>
            </a:r>
          </a:p>
          <a:p>
            <a:pPr marL="342900" indent="-342900" algn="just">
              <a:lnSpc>
                <a:spcPct val="150000"/>
              </a:lnSpc>
              <a:buAutoNum type="arabicPeriod"/>
            </a:pPr>
            <a:r>
              <a:rPr lang="en-US" sz="2400" smtClean="0">
                <a:cs typeface="Times New Roman" panose="02020603050405020304" pitchFamily="18" charset="0"/>
              </a:rPr>
              <a:t>MÔ TẢ BÀI TOÁN</a:t>
            </a:r>
          </a:p>
          <a:p>
            <a:pPr marL="342900" indent="-342900" algn="just">
              <a:lnSpc>
                <a:spcPct val="150000"/>
              </a:lnSpc>
              <a:buAutoNum type="arabicPeriod"/>
            </a:pPr>
            <a:r>
              <a:rPr lang="en-US" sz="2400" smtClean="0">
                <a:cs typeface="Times New Roman" panose="02020603050405020304" pitchFamily="18" charset="0"/>
              </a:rPr>
              <a:t>MÔ HÌNH DỮ LIỆU</a:t>
            </a:r>
          </a:p>
          <a:p>
            <a:pPr marL="342900" indent="-342900" algn="just">
              <a:lnSpc>
                <a:spcPct val="150000"/>
              </a:lnSpc>
              <a:buAutoNum type="arabicPeriod"/>
            </a:pPr>
            <a:r>
              <a:rPr lang="en-US" sz="2400" smtClean="0">
                <a:cs typeface="Times New Roman" panose="02020603050405020304" pitchFamily="18" charset="0"/>
              </a:rPr>
              <a:t>MÔ HÌNH XỬ LÝ</a:t>
            </a:r>
          </a:p>
          <a:p>
            <a:pPr marL="342900" indent="-342900" algn="just">
              <a:lnSpc>
                <a:spcPct val="150000"/>
              </a:lnSpc>
              <a:buAutoNum type="arabicPeriod"/>
            </a:pPr>
            <a:r>
              <a:rPr lang="en-US" sz="2400" smtClean="0">
                <a:cs typeface="Times New Roman" panose="02020603050405020304" pitchFamily="18" charset="0"/>
              </a:rPr>
              <a:t>KẾT QUẢ ĐẠT ĐƯỢC</a:t>
            </a:r>
          </a:p>
          <a:p>
            <a:pPr marL="342900" indent="-342900" algn="just">
              <a:lnSpc>
                <a:spcPct val="150000"/>
              </a:lnSpc>
              <a:buAutoNum type="arabicPeriod"/>
            </a:pPr>
            <a:r>
              <a:rPr lang="en-US" sz="2400" smtClean="0">
                <a:cs typeface="Times New Roman" panose="02020603050405020304" pitchFamily="18" charset="0"/>
              </a:rPr>
              <a:t>HƯỚNG PHÁT TRIỂN</a:t>
            </a:r>
            <a:r>
              <a:rPr lang="en-US" sz="2400" smtClean="0"/>
              <a:t> </a:t>
            </a:r>
            <a:endParaRPr lang="en-US" sz="2400"/>
          </a:p>
        </p:txBody>
      </p:sp>
    </p:spTree>
    <p:extLst>
      <p:ext uri="{BB962C8B-B14F-4D97-AF65-F5344CB8AC3E}">
        <p14:creationId xmlns:p14="http://schemas.microsoft.com/office/powerpoint/2010/main" val="1002735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1. LÍ DO CHỌN ĐỀ TÀI</a:t>
            </a:r>
            <a:endParaRPr lang="en-US" sz="3200"/>
          </a:p>
        </p:txBody>
      </p:sp>
      <p:sp>
        <p:nvSpPr>
          <p:cNvPr id="4" name="TextBox 3"/>
          <p:cNvSpPr txBox="1"/>
          <p:nvPr/>
        </p:nvSpPr>
        <p:spPr>
          <a:xfrm>
            <a:off x="781723" y="1514011"/>
            <a:ext cx="10500231" cy="3693319"/>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vi-VN" smtClean="0"/>
              <a:t>Tìm </a:t>
            </a:r>
            <a:r>
              <a:rPr lang="vi-VN"/>
              <a:t>hiểu tổng quan về framework </a:t>
            </a:r>
            <a:r>
              <a:rPr lang="vi-VN" smtClean="0"/>
              <a:t>Laravel</a:t>
            </a:r>
            <a:endParaRPr lang="en-US" smtClean="0"/>
          </a:p>
          <a:p>
            <a:pPr marL="285750" indent="-285750" algn="just">
              <a:lnSpc>
                <a:spcPct val="150000"/>
              </a:lnSpc>
              <a:buFont typeface="Wingdings" panose="05000000000000000000" pitchFamily="2" charset="2"/>
              <a:buChar char="Ø"/>
            </a:pPr>
            <a:r>
              <a:rPr lang="vi-VN" smtClean="0"/>
              <a:t>Nghiên </a:t>
            </a:r>
            <a:r>
              <a:rPr lang="vi-VN"/>
              <a:t>cứu mô hình MVC (Model – View – Controller) trong </a:t>
            </a:r>
            <a:r>
              <a:rPr lang="vi-VN" smtClean="0"/>
              <a:t>Laravel</a:t>
            </a:r>
            <a:endParaRPr lang="en-US" smtClean="0"/>
          </a:p>
          <a:p>
            <a:pPr marL="285750" indent="-285750" algn="just">
              <a:lnSpc>
                <a:spcPct val="150000"/>
              </a:lnSpc>
              <a:buFont typeface="Wingdings" panose="05000000000000000000" pitchFamily="2" charset="2"/>
              <a:buChar char="Ø"/>
            </a:pPr>
            <a:r>
              <a:rPr lang="vi-VN" smtClean="0"/>
              <a:t>Tìm </a:t>
            </a:r>
            <a:r>
              <a:rPr lang="vi-VN"/>
              <a:t>hiểu cách xây dựng website thương mại điện </a:t>
            </a:r>
            <a:r>
              <a:rPr lang="en-US" smtClean="0">
                <a:cs typeface="Arial" panose="020B0604020202020204" pitchFamily="34" charset="0"/>
              </a:rPr>
              <a:t>tử</a:t>
            </a:r>
          </a:p>
          <a:p>
            <a:pPr marL="285750" indent="-285750" algn="just">
              <a:lnSpc>
                <a:spcPct val="150000"/>
              </a:lnSpc>
              <a:buFont typeface="Wingdings" panose="05000000000000000000" pitchFamily="2" charset="2"/>
              <a:buChar char="Ø"/>
            </a:pPr>
            <a:r>
              <a:rPr lang="en-US">
                <a:latin typeface="Arial" panose="020B0604020202020204" pitchFamily="34" charset="0"/>
                <a:cs typeface="Arial" panose="020B0604020202020204" pitchFamily="34" charset="0"/>
              </a:rPr>
              <a:t>Nhu cầu sử dụng rau củ tươi sạch ngày càng tăng, nhưng nhiều website hiện nay chưa đáp ứng tốt về giao diện, trải nghiệm người dùng và khả năng quản lý sản phẩm. Việc cung cấp một nền tảng mua sắm trực tuyến chuyên về rau củ tươi, rõ ràng về thông tin và thuận tiện khi đặt hàng là rất cần thiết. Laravel là framework PHP mạnh mẽ, bảo mật tốt và dễ mở rộng, phù hợp để xây dựng hệ thống website thương mại điện </a:t>
            </a:r>
            <a:r>
              <a:rPr lang="en-US" smtClean="0">
                <a:latin typeface="Arial" panose="020B0604020202020204" pitchFamily="34" charset="0"/>
                <a:cs typeface="Arial" panose="020B0604020202020204" pitchFamily="34" charset="0"/>
              </a:rPr>
              <a:t>tử</a:t>
            </a:r>
            <a:endParaRPr lang="en-US">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Ø"/>
            </a:pP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3281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2. CƠ SỞ LÝ THUYẾT</a:t>
            </a:r>
            <a:endParaRPr lang="en-US" sz="3200"/>
          </a:p>
        </p:txBody>
      </p:sp>
      <p:pic>
        <p:nvPicPr>
          <p:cNvPr id="4" name="Picture 4" descr="Html Css and Javascri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0460" y="1340533"/>
            <a:ext cx="3469140" cy="187035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ySQL logo and symbol, meaning, history, 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17184" y="1340533"/>
            <a:ext cx="3100449" cy="19384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4814774" y="1340533"/>
            <a:ext cx="2793994" cy="1870352"/>
          </a:xfrm>
          <a:prstGeom prst="rect">
            <a:avLst/>
          </a:prstGeom>
        </p:spPr>
      </p:pic>
      <p:pic>
        <p:nvPicPr>
          <p:cNvPr id="2058" name="Picture 10" descr="Bootstrap - Digital Pulse Institut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231" y="4057813"/>
            <a:ext cx="3716116" cy="222967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Hướng dẫn cài đặt Laravel trên FastPanel"/>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31346" y="4056176"/>
            <a:ext cx="4462614" cy="2231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0000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3. MÔ TẢ BÀI TOÁN</a:t>
            </a:r>
            <a:endParaRPr lang="en-US" sz="3200"/>
          </a:p>
        </p:txBody>
      </p:sp>
      <p:sp>
        <p:nvSpPr>
          <p:cNvPr id="4" name="TextBox 3"/>
          <p:cNvSpPr txBox="1"/>
          <p:nvPr/>
        </p:nvSpPr>
        <p:spPr>
          <a:xfrm>
            <a:off x="781723" y="1514011"/>
            <a:ext cx="10500231" cy="258532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a:latin typeface="Arial" panose="020B0604020202020204" pitchFamily="34" charset="0"/>
                <a:cs typeface="Arial" panose="020B0604020202020204" pitchFamily="34" charset="0"/>
              </a:rPr>
              <a:t>Bài toán xây dựng website bán rau củ tươi sạch được thực hiện nhằm hỗ trợ việc kinh doanh rau củ theo hình thức trực tuyến, giúp người bán quản lý sản phẩm và đơn hàng hiệu quả, đồng thời tạo điều kiện thuận lợi cho người tiêu dùng mua sắm nhanh chóng, an toàn và tiết kiệm thời </a:t>
            </a:r>
            <a:r>
              <a:rPr lang="en-US" smtClean="0">
                <a:latin typeface="Arial" panose="020B0604020202020204" pitchFamily="34" charset="0"/>
                <a:cs typeface="Arial" panose="020B0604020202020204" pitchFamily="34" charset="0"/>
              </a:rPr>
              <a:t>gian</a:t>
            </a:r>
            <a:endParaRPr lang="en-US">
              <a:latin typeface="Arial" panose="020B0604020202020204" pitchFamily="34" charset="0"/>
              <a:cs typeface="Arial" panose="020B0604020202020204" pitchFamily="34" charset="0"/>
            </a:endParaRPr>
          </a:p>
          <a:p>
            <a:pPr marL="285750" indent="-285750" algn="just">
              <a:lnSpc>
                <a:spcPct val="150000"/>
              </a:lnSpc>
              <a:buFont typeface="Wingdings" panose="05000000000000000000" pitchFamily="2" charset="2"/>
              <a:buChar char="Ø"/>
            </a:pPr>
            <a:r>
              <a:rPr lang="en-US">
                <a:latin typeface="Arial" panose="020B0604020202020204" pitchFamily="34" charset="0"/>
                <a:cs typeface="Arial" panose="020B0604020202020204" pitchFamily="34" charset="0"/>
              </a:rPr>
              <a:t>Hệ thống hướng đến việc tự động hóa quy trình bán hàng, từ khâu trưng bày sản phẩm, đặt hàng, thanh toán cho đến quản lý đơn hàng và người dùng, góp phần nâng cao hiệu suất hoạt động và trải nghiệm người </a:t>
            </a:r>
            <a:r>
              <a:rPr lang="en-US" smtClean="0">
                <a:latin typeface="Arial" panose="020B0604020202020204" pitchFamily="34" charset="0"/>
                <a:cs typeface="Arial" panose="020B0604020202020204" pitchFamily="34" charset="0"/>
              </a:rPr>
              <a:t>dùng</a:t>
            </a:r>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65418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3. MÔ TẢ BÀI TOÁN</a:t>
            </a:r>
            <a:endParaRPr lang="en-US" sz="3200"/>
          </a:p>
        </p:txBody>
      </p:sp>
      <p:sp>
        <p:nvSpPr>
          <p:cNvPr id="4" name="TextBox 3"/>
          <p:cNvSpPr txBox="1"/>
          <p:nvPr/>
        </p:nvSpPr>
        <p:spPr>
          <a:xfrm>
            <a:off x="781723" y="1514011"/>
            <a:ext cx="10500231" cy="507831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mtClean="0">
                <a:latin typeface="Arial" panose="020B0604020202020204" pitchFamily="34" charset="0"/>
                <a:cs typeface="Arial" panose="020B0604020202020204" pitchFamily="34" charset="0"/>
              </a:rPr>
              <a:t>Hệ </a:t>
            </a:r>
            <a:r>
              <a:rPr lang="en-US">
                <a:latin typeface="Arial" panose="020B0604020202020204" pitchFamily="34" charset="0"/>
                <a:cs typeface="Arial" panose="020B0604020202020204" pitchFamily="34" charset="0"/>
              </a:rPr>
              <a:t>thống website cần đáp ứng các yêu cầu cơ bản sau:</a:t>
            </a:r>
          </a:p>
          <a:p>
            <a:pPr marL="742950" lvl="1" indent="-285750" algn="just">
              <a:lnSpc>
                <a:spcPct val="150000"/>
              </a:lnSpc>
              <a:buFont typeface="Arial" panose="020B0604020202020204" pitchFamily="34" charset="0"/>
              <a:buChar char="•"/>
            </a:pPr>
            <a:r>
              <a:rPr lang="en-US">
                <a:latin typeface="Arial" panose="020B0604020202020204" pitchFamily="34" charset="0"/>
                <a:cs typeface="Arial" panose="020B0604020202020204" pitchFamily="34" charset="0"/>
              </a:rPr>
              <a:t>Quản lý sản phẩm: bao gồm tên sản phẩm, danh mục sản phẩm, giá bán, mô tả, hình ảnh sản phẩm và tình trạng còn </a:t>
            </a:r>
            <a:r>
              <a:rPr lang="en-US" smtClean="0">
                <a:latin typeface="Arial" panose="020B0604020202020204" pitchFamily="34" charset="0"/>
                <a:cs typeface="Arial" panose="020B0604020202020204" pitchFamily="34" charset="0"/>
              </a:rPr>
              <a:t>hàng</a:t>
            </a:r>
            <a:endParaRPr lang="en-US" smtClean="0">
              <a:latin typeface="Arial" panose="020B0604020202020204" pitchFamily="34" charset="0"/>
              <a:cs typeface="Arial" panose="020B0604020202020204" pitchFamily="34" charset="0"/>
            </a:endParaRPr>
          </a:p>
          <a:p>
            <a:pPr marL="742950" lvl="1" indent="-285750" algn="just">
              <a:lnSpc>
                <a:spcPct val="150000"/>
              </a:lnSpc>
              <a:buFont typeface="Arial" panose="020B0604020202020204" pitchFamily="34" charset="0"/>
              <a:buChar char="•"/>
            </a:pPr>
            <a:r>
              <a:rPr lang="en-US" smtClean="0">
                <a:latin typeface="Arial" panose="020B0604020202020204" pitchFamily="34" charset="0"/>
                <a:cs typeface="Arial" panose="020B0604020202020204" pitchFamily="34" charset="0"/>
              </a:rPr>
              <a:t>Quản </a:t>
            </a:r>
            <a:r>
              <a:rPr lang="en-US">
                <a:latin typeface="Arial" panose="020B0604020202020204" pitchFamily="34" charset="0"/>
                <a:cs typeface="Arial" panose="020B0604020202020204" pitchFamily="34" charset="0"/>
              </a:rPr>
              <a:t>lý đơn hàng: lưu trữ thông tin các sản phẩm khách hàng đã đặt, số lượng, tổng tiền, trạng thái đơn hàng và lịch sử mua </a:t>
            </a:r>
            <a:r>
              <a:rPr lang="en-US" smtClean="0">
                <a:latin typeface="Arial" panose="020B0604020202020204" pitchFamily="34" charset="0"/>
                <a:cs typeface="Arial" panose="020B0604020202020204" pitchFamily="34" charset="0"/>
              </a:rPr>
              <a:t>hàng</a:t>
            </a:r>
            <a:endParaRPr lang="en-US" smtClean="0">
              <a:latin typeface="Arial" panose="020B0604020202020204" pitchFamily="34" charset="0"/>
              <a:cs typeface="Arial" panose="020B0604020202020204" pitchFamily="34" charset="0"/>
            </a:endParaRPr>
          </a:p>
          <a:p>
            <a:pPr marL="742950" lvl="1" indent="-285750" algn="just">
              <a:lnSpc>
                <a:spcPct val="150000"/>
              </a:lnSpc>
              <a:buFont typeface="Arial" panose="020B0604020202020204" pitchFamily="34" charset="0"/>
              <a:buChar char="•"/>
            </a:pPr>
            <a:r>
              <a:rPr lang="en-US" smtClean="0">
                <a:latin typeface="Arial" panose="020B0604020202020204" pitchFamily="34" charset="0"/>
                <a:cs typeface="Arial" panose="020B0604020202020204" pitchFamily="34" charset="0"/>
              </a:rPr>
              <a:t>Quản </a:t>
            </a:r>
            <a:r>
              <a:rPr lang="en-US">
                <a:latin typeface="Arial" panose="020B0604020202020204" pitchFamily="34" charset="0"/>
                <a:cs typeface="Arial" panose="020B0604020202020204" pitchFamily="34" charset="0"/>
              </a:rPr>
              <a:t>lý tài khoản người dùng: cho phép khách hàng đăng ký, đăng nhập, cập nhật thông tin cá nhân và theo dõi lịch sử đơn </a:t>
            </a:r>
            <a:r>
              <a:rPr lang="en-US" smtClean="0">
                <a:latin typeface="Arial" panose="020B0604020202020204" pitchFamily="34" charset="0"/>
                <a:cs typeface="Arial" panose="020B0604020202020204" pitchFamily="34" charset="0"/>
              </a:rPr>
              <a:t>hàng</a:t>
            </a:r>
            <a:endParaRPr lang="en-US" smtClean="0">
              <a:latin typeface="Arial" panose="020B0604020202020204" pitchFamily="34" charset="0"/>
              <a:cs typeface="Arial" panose="020B0604020202020204" pitchFamily="34" charset="0"/>
            </a:endParaRPr>
          </a:p>
          <a:p>
            <a:pPr marL="742950" lvl="1" indent="-285750" algn="just">
              <a:lnSpc>
                <a:spcPct val="150000"/>
              </a:lnSpc>
              <a:buFont typeface="Arial" panose="020B0604020202020204" pitchFamily="34" charset="0"/>
              <a:buChar char="•"/>
            </a:pPr>
            <a:r>
              <a:rPr lang="en-US" smtClean="0">
                <a:latin typeface="Arial" panose="020B0604020202020204" pitchFamily="34" charset="0"/>
                <a:cs typeface="Arial" panose="020B0604020202020204" pitchFamily="34" charset="0"/>
              </a:rPr>
              <a:t>Quản </a:t>
            </a:r>
            <a:r>
              <a:rPr lang="en-US">
                <a:latin typeface="Arial" panose="020B0604020202020204" pitchFamily="34" charset="0"/>
                <a:cs typeface="Arial" panose="020B0604020202020204" pitchFamily="34" charset="0"/>
              </a:rPr>
              <a:t>lý doanh thu: hỗ trợ thống kê đơn hàng, tổng doanh thu theo thời gian nhằm phục vụ công tác quản lý và đánh giá hiệu quả kinh </a:t>
            </a:r>
            <a:r>
              <a:rPr lang="en-US" smtClean="0">
                <a:latin typeface="Arial" panose="020B0604020202020204" pitchFamily="34" charset="0"/>
                <a:cs typeface="Arial" panose="020B0604020202020204" pitchFamily="34" charset="0"/>
              </a:rPr>
              <a:t>doanh</a:t>
            </a:r>
            <a:endParaRPr lang="en-US" smtClean="0">
              <a:latin typeface="Arial" panose="020B0604020202020204" pitchFamily="34" charset="0"/>
              <a:cs typeface="Arial" panose="020B0604020202020204" pitchFamily="34" charset="0"/>
            </a:endParaRPr>
          </a:p>
          <a:p>
            <a:pPr marL="742950" lvl="1" indent="-285750" algn="just">
              <a:lnSpc>
                <a:spcPct val="150000"/>
              </a:lnSpc>
              <a:buFont typeface="Arial" panose="020B0604020202020204" pitchFamily="34" charset="0"/>
              <a:buChar char="•"/>
            </a:pPr>
            <a:r>
              <a:rPr lang="en-US" smtClean="0">
                <a:latin typeface="Arial" panose="020B0604020202020204" pitchFamily="34" charset="0"/>
                <a:cs typeface="Arial" panose="020B0604020202020204" pitchFamily="34" charset="0"/>
              </a:rPr>
              <a:t>Quản </a:t>
            </a:r>
            <a:r>
              <a:rPr lang="en-US">
                <a:latin typeface="Arial" panose="020B0604020202020204" pitchFamily="34" charset="0"/>
                <a:cs typeface="Arial" panose="020B0604020202020204" pitchFamily="34" charset="0"/>
              </a:rPr>
              <a:t>lý liên hệ: cho phép khách hàng gửi thông tin liên hệ, câu hỏi hoặc phản hồi về sản phẩm và dịch vụ; quản trị viên có thể xem, quản lý và phản hồi các liên hệ nhằm nâng cao chất lượng chăm sóc khách </a:t>
            </a:r>
            <a:r>
              <a:rPr lang="en-US" smtClean="0">
                <a:latin typeface="Arial" panose="020B0604020202020204" pitchFamily="34" charset="0"/>
                <a:cs typeface="Arial" panose="020B0604020202020204" pitchFamily="34" charset="0"/>
              </a:rPr>
              <a:t>hàng</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2796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4. MÔ HÌNH DỮ LIỆU</a:t>
            </a:r>
            <a:endParaRPr lang="en-US" sz="3200"/>
          </a:p>
        </p:txBody>
      </p:sp>
      <p:pic>
        <p:nvPicPr>
          <p:cNvPr id="3074"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2529" y="1150832"/>
            <a:ext cx="8310335" cy="5550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61116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5. MÔ HÌNH XỬ LÝ</a:t>
            </a:r>
            <a:endParaRPr lang="en-US" sz="3200"/>
          </a:p>
        </p:txBody>
      </p:sp>
      <p:pic>
        <p:nvPicPr>
          <p:cNvPr id="2" name="Picture 1"/>
          <p:cNvPicPr>
            <a:picLocks noChangeAspect="1"/>
          </p:cNvPicPr>
          <p:nvPr/>
        </p:nvPicPr>
        <p:blipFill>
          <a:blip r:embed="rId2"/>
          <a:stretch>
            <a:fillRect/>
          </a:stretch>
        </p:blipFill>
        <p:spPr>
          <a:xfrm>
            <a:off x="925742" y="1625449"/>
            <a:ext cx="4337138" cy="4940006"/>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113809175"/>
              </p:ext>
            </p:extLst>
          </p:nvPr>
        </p:nvGraphicFramePr>
        <p:xfrm>
          <a:off x="925742" y="1146114"/>
          <a:ext cx="10356212" cy="370840"/>
        </p:xfrm>
        <a:graphic>
          <a:graphicData uri="http://schemas.openxmlformats.org/drawingml/2006/table">
            <a:tbl>
              <a:tblPr firstRow="1" bandRow="1">
                <a:tableStyleId>{5C22544A-7EE6-4342-B048-85BDC9FD1C3A}</a:tableStyleId>
              </a:tblPr>
              <a:tblGrid>
                <a:gridCol w="6284955"/>
                <a:gridCol w="4071257"/>
              </a:tblGrid>
              <a:tr h="370840">
                <a:tc>
                  <a:txBody>
                    <a:bodyPr/>
                    <a:lstStyle/>
                    <a:p>
                      <a:r>
                        <a:rPr lang="en-US" smtClean="0">
                          <a:solidFill>
                            <a:schemeClr val="tx1"/>
                          </a:solidFill>
                          <a:latin typeface="Arial" panose="020B0604020202020204" pitchFamily="34" charset="0"/>
                          <a:cs typeface="Arial" panose="020B0604020202020204" pitchFamily="34" charset="0"/>
                        </a:rPr>
                        <a:t>Use</a:t>
                      </a:r>
                      <a:r>
                        <a:rPr lang="en-US" baseline="0" smtClean="0">
                          <a:solidFill>
                            <a:schemeClr val="tx1"/>
                          </a:solidFill>
                          <a:latin typeface="Arial" panose="020B0604020202020204" pitchFamily="34" charset="0"/>
                          <a:cs typeface="Arial" panose="020B0604020202020204" pitchFamily="34" charset="0"/>
                        </a:rPr>
                        <a:t> Case phía người dùng</a:t>
                      </a:r>
                      <a:endParaRPr lang="en-US">
                        <a:solidFill>
                          <a:schemeClr val="tx1"/>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mtClean="0">
                          <a:solidFill>
                            <a:schemeClr val="tx1"/>
                          </a:solidFill>
                          <a:latin typeface="Arial" panose="020B0604020202020204" pitchFamily="34" charset="0"/>
                          <a:cs typeface="Arial" panose="020B0604020202020204" pitchFamily="34" charset="0"/>
                        </a:rPr>
                        <a:t>Use</a:t>
                      </a:r>
                      <a:r>
                        <a:rPr lang="en-US" baseline="0" smtClean="0">
                          <a:solidFill>
                            <a:schemeClr val="tx1"/>
                          </a:solidFill>
                          <a:latin typeface="Arial" panose="020B0604020202020204" pitchFamily="34" charset="0"/>
                          <a:cs typeface="Arial" panose="020B0604020202020204" pitchFamily="34" charset="0"/>
                        </a:rPr>
                        <a:t> Case phía quản trị</a:t>
                      </a:r>
                      <a:endParaRPr lang="en-US">
                        <a:solidFill>
                          <a:schemeClr val="tx1"/>
                        </a:solidFill>
                        <a:latin typeface="Arial" panose="020B0604020202020204" pitchFamily="34" charset="0"/>
                        <a:cs typeface="Arial" panose="020B0604020202020204"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r>
            </a:tbl>
          </a:graphicData>
        </a:graphic>
      </p:graphicFrame>
      <p:pic>
        <p:nvPicPr>
          <p:cNvPr id="6" name="Picture 5"/>
          <p:cNvPicPr>
            <a:picLocks noChangeAspect="1"/>
          </p:cNvPicPr>
          <p:nvPr/>
        </p:nvPicPr>
        <p:blipFill>
          <a:blip r:embed="rId3"/>
          <a:stretch>
            <a:fillRect/>
          </a:stretch>
        </p:blipFill>
        <p:spPr>
          <a:xfrm>
            <a:off x="7164479" y="1625448"/>
            <a:ext cx="3880584" cy="4940007"/>
          </a:xfrm>
          <a:prstGeom prst="rect">
            <a:avLst/>
          </a:prstGeom>
        </p:spPr>
      </p:pic>
    </p:spTree>
    <p:extLst>
      <p:ext uri="{BB962C8B-B14F-4D97-AF65-F5344CB8AC3E}">
        <p14:creationId xmlns:p14="http://schemas.microsoft.com/office/powerpoint/2010/main" val="4185808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6. KẾT QUẢ ĐẠT ĐƯỢC</a:t>
            </a:r>
            <a:endParaRPr lang="en-US" sz="3200"/>
          </a:p>
        </p:txBody>
      </p:sp>
      <p:pic>
        <p:nvPicPr>
          <p:cNvPr id="4099"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872" y="4341631"/>
            <a:ext cx="558482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9222" y="1605750"/>
            <a:ext cx="5578475" cy="252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15561" y="1575587"/>
            <a:ext cx="5578475"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53440" y="1037620"/>
            <a:ext cx="2954655" cy="369332"/>
          </a:xfrm>
          <a:prstGeom prst="rect">
            <a:avLst/>
          </a:prstGeom>
          <a:noFill/>
        </p:spPr>
        <p:txBody>
          <a:bodyPr wrap="none" rtlCol="0">
            <a:spAutoFit/>
          </a:bodyPr>
          <a:lstStyle/>
          <a:p>
            <a:r>
              <a:rPr lang="en-US" smtClean="0">
                <a:latin typeface="Arial" panose="020B0604020202020204" pitchFamily="34" charset="0"/>
                <a:cs typeface="Arial" panose="020B0604020202020204" pitchFamily="34" charset="0"/>
              </a:rPr>
              <a:t>Một số giao diện trang web</a:t>
            </a:r>
            <a:endParaRPr lang="en-US">
              <a:latin typeface="Arial" panose="020B0604020202020204" pitchFamily="34" charset="0"/>
              <a:cs typeface="Arial" panose="020B0604020202020204" pitchFamily="34" charset="0"/>
            </a:endParaRPr>
          </a:p>
        </p:txBody>
      </p:sp>
      <p:pic>
        <p:nvPicPr>
          <p:cNvPr id="4102" name="Picture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31436" y="4341631"/>
            <a:ext cx="55626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25268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smtClean="0">
                <a:cs typeface="Times New Roman" panose="02020603050405020304" pitchFamily="18" charset="0"/>
              </a:rPr>
              <a:t>7. HƯỚNG PHÁT TRIỂN</a:t>
            </a:r>
            <a:endParaRPr lang="en-US" sz="3200"/>
          </a:p>
        </p:txBody>
      </p:sp>
      <p:sp>
        <p:nvSpPr>
          <p:cNvPr id="4" name="TextBox 3"/>
          <p:cNvSpPr txBox="1"/>
          <p:nvPr/>
        </p:nvSpPr>
        <p:spPr>
          <a:xfrm>
            <a:off x="781723" y="1514011"/>
            <a:ext cx="10500231" cy="424731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a:latin typeface="Arial" panose="020B0604020202020204" pitchFamily="34" charset="0"/>
                <a:cs typeface="Arial" panose="020B0604020202020204" pitchFamily="34" charset="0"/>
              </a:rPr>
              <a:t>Tích hợp trí tuệ nhân tạo (AI) trong việc gợi ý sản phẩm và tư vấn khách hàng</a:t>
            </a:r>
            <a:r>
              <a:rPr lang="en-US" b="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 Phát triển các tính năng AI để gợi ý sản phẩm cho người dùng dựa trên lịch sử mua hàng và tư vấn giải đáp các thắc mắc, nhằm tối ưu hóa trải nghiệm người dùng và tăng trưởng </a:t>
            </a:r>
            <a:r>
              <a:rPr lang="en-US">
                <a:latin typeface="Arial" panose="020B0604020202020204" pitchFamily="34" charset="0"/>
                <a:cs typeface="Arial" panose="020B0604020202020204" pitchFamily="34" charset="0"/>
              </a:rPr>
              <a:t>doanh </a:t>
            </a:r>
            <a:r>
              <a:rPr lang="en-US" smtClean="0">
                <a:latin typeface="Arial" panose="020B0604020202020204" pitchFamily="34" charset="0"/>
                <a:cs typeface="Arial" panose="020B0604020202020204" pitchFamily="34" charset="0"/>
              </a:rPr>
              <a:t>thu</a:t>
            </a:r>
            <a:endParaRPr lang="en-US">
              <a:latin typeface="Arial" panose="020B0604020202020204" pitchFamily="34" charset="0"/>
              <a:cs typeface="Arial" panose="020B0604020202020204" pitchFamily="34" charset="0"/>
            </a:endParaRPr>
          </a:p>
          <a:p>
            <a:pPr marL="285750" indent="-285750" algn="just">
              <a:lnSpc>
                <a:spcPct val="150000"/>
              </a:lnSpc>
              <a:buFont typeface="Wingdings" panose="05000000000000000000" pitchFamily="2" charset="2"/>
              <a:buChar char="Ø"/>
            </a:pPr>
            <a:r>
              <a:rPr lang="en-US">
                <a:latin typeface="Arial" panose="020B0604020202020204" pitchFamily="34" charset="0"/>
                <a:cs typeface="Arial" panose="020B0604020202020204" pitchFamily="34" charset="0"/>
              </a:rPr>
              <a:t>Phát triển ứng dụng di động</a:t>
            </a:r>
            <a:r>
              <a:rPr lang="en-US" b="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 Tạo ra ứng dụng di động cho hệ thống để tăng cường khả năng tiếp cận người dùng, đặc biệt là trong bối cảnh thói quen mua sắm qua điện thoại di động đang ngày càng </a:t>
            </a:r>
            <a:r>
              <a:rPr lang="en-US">
                <a:latin typeface="Arial" panose="020B0604020202020204" pitchFamily="34" charset="0"/>
                <a:cs typeface="Arial" panose="020B0604020202020204" pitchFamily="34" charset="0"/>
              </a:rPr>
              <a:t>phổ </a:t>
            </a:r>
            <a:r>
              <a:rPr lang="en-US" smtClean="0">
                <a:latin typeface="Arial" panose="020B0604020202020204" pitchFamily="34" charset="0"/>
                <a:cs typeface="Arial" panose="020B0604020202020204" pitchFamily="34" charset="0"/>
              </a:rPr>
              <a:t>biến</a:t>
            </a:r>
          </a:p>
          <a:p>
            <a:pPr marL="285750" indent="-285750" algn="just">
              <a:lnSpc>
                <a:spcPct val="150000"/>
              </a:lnSpc>
              <a:buFont typeface="Wingdings" panose="05000000000000000000" pitchFamily="2" charset="2"/>
              <a:buChar char="Ø"/>
            </a:pPr>
            <a:r>
              <a:rPr lang="en-US">
                <a:latin typeface="Arial" panose="020B0604020202020204" pitchFamily="34" charset="0"/>
                <a:cs typeface="Arial" panose="020B0604020202020204" pitchFamily="34" charset="0"/>
              </a:rPr>
              <a:t>T</a:t>
            </a:r>
            <a:r>
              <a:rPr lang="en-US" smtClean="0">
                <a:latin typeface="Arial" panose="020B0604020202020204" pitchFamily="34" charset="0"/>
                <a:cs typeface="Arial" panose="020B0604020202020204" pitchFamily="34" charset="0"/>
              </a:rPr>
              <a:t>ích </a:t>
            </a:r>
            <a:r>
              <a:rPr lang="en-US">
                <a:latin typeface="Arial" panose="020B0604020202020204" pitchFamily="34" charset="0"/>
                <a:cs typeface="Arial" panose="020B0604020202020204" pitchFamily="34" charset="0"/>
              </a:rPr>
              <a:t>hợp các cổng thanh toán trực tuyến phổ biến như VNPay, MoMo, ZaloPay hoặc thẻ ngân hàng</a:t>
            </a:r>
            <a:r>
              <a:rPr lang="en-US">
                <a:latin typeface="Arial" panose="020B0604020202020204" pitchFamily="34" charset="0"/>
                <a:cs typeface="Arial" panose="020B0604020202020204" pitchFamily="34" charset="0"/>
              </a:rPr>
              <a:t>, </a:t>
            </a:r>
            <a:r>
              <a:rPr lang="en-US" smtClean="0">
                <a:latin typeface="Arial" panose="020B0604020202020204" pitchFamily="34" charset="0"/>
                <a:cs typeface="Arial" panose="020B0604020202020204" pitchFamily="34" charset="0"/>
              </a:rPr>
              <a:t>để </a:t>
            </a:r>
            <a:r>
              <a:rPr lang="en-US">
                <a:latin typeface="Arial" panose="020B0604020202020204" pitchFamily="34" charset="0"/>
                <a:cs typeface="Arial" panose="020B0604020202020204" pitchFamily="34" charset="0"/>
              </a:rPr>
              <a:t>người </a:t>
            </a:r>
            <a:r>
              <a:rPr lang="en-US">
                <a:latin typeface="Arial" panose="020B0604020202020204" pitchFamily="34" charset="0"/>
                <a:cs typeface="Arial" panose="020B0604020202020204" pitchFamily="34" charset="0"/>
              </a:rPr>
              <a:t>dùng </a:t>
            </a:r>
            <a:r>
              <a:rPr lang="en-US" smtClean="0">
                <a:latin typeface="Arial" panose="020B0604020202020204" pitchFamily="34" charset="0"/>
                <a:cs typeface="Arial" panose="020B0604020202020204" pitchFamily="34" charset="0"/>
              </a:rPr>
              <a:t>có nhiều </a:t>
            </a:r>
            <a:r>
              <a:rPr lang="en-US">
                <a:latin typeface="Arial" panose="020B0604020202020204" pitchFamily="34" charset="0"/>
                <a:cs typeface="Arial" panose="020B0604020202020204" pitchFamily="34" charset="0"/>
              </a:rPr>
              <a:t>lựa chọn phương thức </a:t>
            </a:r>
            <a:r>
              <a:rPr lang="en-US">
                <a:latin typeface="Arial" panose="020B0604020202020204" pitchFamily="34" charset="0"/>
                <a:cs typeface="Arial" panose="020B0604020202020204" pitchFamily="34" charset="0"/>
              </a:rPr>
              <a:t>thanh </a:t>
            </a:r>
            <a:r>
              <a:rPr lang="en-US" smtClean="0">
                <a:latin typeface="Arial" panose="020B0604020202020204" pitchFamily="34" charset="0"/>
                <a:cs typeface="Arial" panose="020B0604020202020204" pitchFamily="34" charset="0"/>
              </a:rPr>
              <a:t>toán</a:t>
            </a:r>
          </a:p>
          <a:p>
            <a:pPr marL="285750" indent="-285750" algn="just">
              <a:lnSpc>
                <a:spcPct val="150000"/>
              </a:lnSpc>
              <a:buFont typeface="Wingdings" panose="05000000000000000000" pitchFamily="2" charset="2"/>
              <a:buChar char="Ø"/>
            </a:pPr>
            <a:r>
              <a:rPr lang="en-US">
                <a:latin typeface="Arial" panose="020B0604020202020204" pitchFamily="34" charset="0"/>
                <a:cs typeface="Arial" panose="020B0604020202020204" pitchFamily="34" charset="0"/>
              </a:rPr>
              <a:t>Cải thiện chức năng quản lý đơn hàng</a:t>
            </a:r>
            <a:r>
              <a:rPr lang="en-US" b="1">
                <a:latin typeface="Arial" panose="020B0604020202020204" pitchFamily="34" charset="0"/>
                <a:cs typeface="Arial" panose="020B0604020202020204" pitchFamily="34" charset="0"/>
              </a:rPr>
              <a:t>:</a:t>
            </a:r>
            <a:r>
              <a:rPr lang="en-US">
                <a:latin typeface="Arial" panose="020B0604020202020204" pitchFamily="34" charset="0"/>
                <a:cs typeface="Arial" panose="020B0604020202020204" pitchFamily="34" charset="0"/>
              </a:rPr>
              <a:t> Thêm tính năng quản lý vận chuyển, cho phép theo dõi tình trạng giao hàng theo thời gian thực, cũng như tích hợp với các dịch vụ vận chuyển bên </a:t>
            </a:r>
            <a:r>
              <a:rPr lang="en-US">
                <a:latin typeface="Arial" panose="020B0604020202020204" pitchFamily="34" charset="0"/>
                <a:cs typeface="Arial" panose="020B0604020202020204" pitchFamily="34" charset="0"/>
              </a:rPr>
              <a:t>thứ </a:t>
            </a:r>
            <a:r>
              <a:rPr lang="en-US" smtClean="0">
                <a:latin typeface="Arial" panose="020B0604020202020204" pitchFamily="34" charset="0"/>
                <a:cs typeface="Arial" panose="020B0604020202020204" pitchFamily="34" charset="0"/>
              </a:rPr>
              <a:t>ba</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23149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853440" y="452845"/>
            <a:ext cx="10428514" cy="584775"/>
          </a:xfrm>
          <a:prstGeom prst="rect">
            <a:avLst/>
          </a:prstGeom>
          <a:noFill/>
        </p:spPr>
        <p:txBody>
          <a:bodyPr wrap="square" rtlCol="0">
            <a:spAutoFit/>
          </a:bodyPr>
          <a:lstStyle/>
          <a:p>
            <a:r>
              <a:rPr lang="en-US" sz="3200" b="1">
                <a:cs typeface="Times New Roman" panose="02020603050405020304" pitchFamily="18" charset="0"/>
              </a:rPr>
              <a:t>6</a:t>
            </a:r>
            <a:r>
              <a:rPr lang="en-US" sz="3200" b="1" smtClean="0">
                <a:cs typeface="Times New Roman" panose="02020603050405020304" pitchFamily="18" charset="0"/>
              </a:rPr>
              <a:t>. KẾT QUẢ ĐẠT ĐƯỢC</a:t>
            </a:r>
            <a:endParaRPr lang="en-US" sz="3200"/>
          </a:p>
        </p:txBody>
      </p:sp>
      <p:sp>
        <p:nvSpPr>
          <p:cNvPr id="4" name="TextBox 3"/>
          <p:cNvSpPr txBox="1"/>
          <p:nvPr/>
        </p:nvSpPr>
        <p:spPr>
          <a:xfrm>
            <a:off x="781723" y="1514011"/>
            <a:ext cx="10500231" cy="4247317"/>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vi-VN">
                <a:cs typeface="Arial" panose="020B0604020202020204" pitchFamily="34" charset="0"/>
              </a:rPr>
              <a:t>Nắm vững cách hoạt động của Laravel, kiến trúc MVC và ngôn ngữ </a:t>
            </a:r>
            <a:r>
              <a:rPr lang="vi-VN" smtClean="0">
                <a:cs typeface="Arial" panose="020B0604020202020204" pitchFamily="34" charset="0"/>
              </a:rPr>
              <a:t>PHP</a:t>
            </a:r>
            <a:endParaRPr lang="en-US" smtClean="0">
              <a:cs typeface="Arial" panose="020B0604020202020204" pitchFamily="34" charset="0"/>
            </a:endParaRPr>
          </a:p>
          <a:p>
            <a:pPr marL="285750" indent="-285750" algn="just">
              <a:lnSpc>
                <a:spcPct val="150000"/>
              </a:lnSpc>
              <a:buFont typeface="Wingdings" panose="05000000000000000000" pitchFamily="2" charset="2"/>
              <a:buChar char="Ø"/>
            </a:pPr>
            <a:r>
              <a:rPr lang="vi-VN" smtClean="0">
                <a:cs typeface="Arial" panose="020B0604020202020204" pitchFamily="34" charset="0"/>
              </a:rPr>
              <a:t>Hiểu </a:t>
            </a:r>
            <a:r>
              <a:rPr lang="vi-VN">
                <a:cs typeface="Arial" panose="020B0604020202020204" pitchFamily="34" charset="0"/>
              </a:rPr>
              <a:t>rõ quy trình vận hành của website thương mại điện tử và nghiệp vụ kinh doanh bán rau </a:t>
            </a:r>
            <a:r>
              <a:rPr lang="vi-VN" smtClean="0">
                <a:cs typeface="Arial" panose="020B0604020202020204" pitchFamily="34" charset="0"/>
              </a:rPr>
              <a:t>củ</a:t>
            </a:r>
            <a:endParaRPr lang="en-US" smtClean="0">
              <a:cs typeface="Arial" panose="020B0604020202020204" pitchFamily="34" charset="0"/>
            </a:endParaRPr>
          </a:p>
          <a:p>
            <a:pPr marL="285750" indent="-285750" algn="just">
              <a:lnSpc>
                <a:spcPct val="150000"/>
              </a:lnSpc>
              <a:buFont typeface="Wingdings" panose="05000000000000000000" pitchFamily="2" charset="2"/>
              <a:buChar char="Ø"/>
            </a:pPr>
            <a:r>
              <a:rPr lang="vi-VN" smtClean="0">
                <a:cs typeface="Arial" panose="020B0604020202020204" pitchFamily="34" charset="0"/>
              </a:rPr>
              <a:t>Xây </a:t>
            </a:r>
            <a:r>
              <a:rPr lang="vi-VN">
                <a:cs typeface="Arial" panose="020B0604020202020204" pitchFamily="34" charset="0"/>
              </a:rPr>
              <a:t>dựng giao diện người dùng đơn giản, trực quan, dễ tìm kiếm sản phẩm, đặt hàng và thanh </a:t>
            </a:r>
            <a:r>
              <a:rPr lang="vi-VN" smtClean="0">
                <a:cs typeface="Arial" panose="020B0604020202020204" pitchFamily="34" charset="0"/>
              </a:rPr>
              <a:t>toán</a:t>
            </a:r>
            <a:r>
              <a:rPr lang="en-US" smtClean="0">
                <a:cs typeface="Arial" panose="020B0604020202020204" pitchFamily="34" charset="0"/>
              </a:rPr>
              <a:t> </a:t>
            </a:r>
            <a:r>
              <a:rPr lang="en-US" smtClean="0">
                <a:latin typeface="Arial" panose="020B0604020202020204" pitchFamily="34" charset="0"/>
                <a:cs typeface="Arial" panose="020B0604020202020204" pitchFamily="34" charset="0"/>
              </a:rPr>
              <a:t>dễ </a:t>
            </a:r>
            <a:r>
              <a:rPr lang="en-US" smtClean="0">
                <a:latin typeface="Arial" panose="020B0604020202020204" pitchFamily="34" charset="0"/>
                <a:cs typeface="Arial" panose="020B0604020202020204" pitchFamily="34" charset="0"/>
              </a:rPr>
              <a:t>dàng</a:t>
            </a:r>
            <a:endParaRPr lang="en-US" smtClean="0">
              <a:cs typeface="Arial" panose="020B0604020202020204" pitchFamily="34" charset="0"/>
            </a:endParaRPr>
          </a:p>
          <a:p>
            <a:pPr marL="285750" indent="-285750" algn="just">
              <a:lnSpc>
                <a:spcPct val="150000"/>
              </a:lnSpc>
              <a:buFont typeface="Wingdings" panose="05000000000000000000" pitchFamily="2" charset="2"/>
              <a:buChar char="Ø"/>
            </a:pPr>
            <a:r>
              <a:rPr lang="vi-VN" smtClean="0">
                <a:cs typeface="Arial" panose="020B0604020202020204" pitchFamily="34" charset="0"/>
              </a:rPr>
              <a:t>Phát </a:t>
            </a:r>
            <a:r>
              <a:rPr lang="vi-VN">
                <a:cs typeface="Arial" panose="020B0604020202020204" pitchFamily="34" charset="0"/>
              </a:rPr>
              <a:t>triển trang quản trị (Admin) với đầy đủ chức năng quản lý sản phẩm, đơn hàng, người dùng và giao </a:t>
            </a:r>
            <a:r>
              <a:rPr lang="vi-VN" smtClean="0">
                <a:cs typeface="Arial" panose="020B0604020202020204" pitchFamily="34" charset="0"/>
              </a:rPr>
              <a:t>dịch</a:t>
            </a:r>
            <a:endParaRPr lang="en-US" smtClean="0">
              <a:cs typeface="Arial" panose="020B0604020202020204" pitchFamily="34" charset="0"/>
            </a:endParaRPr>
          </a:p>
          <a:p>
            <a:pPr marL="285750" indent="-285750" algn="just">
              <a:lnSpc>
                <a:spcPct val="150000"/>
              </a:lnSpc>
              <a:buFont typeface="Wingdings" panose="05000000000000000000" pitchFamily="2" charset="2"/>
              <a:buChar char="Ø"/>
            </a:pPr>
            <a:r>
              <a:rPr lang="vi-VN" smtClean="0">
                <a:cs typeface="Arial" panose="020B0604020202020204" pitchFamily="34" charset="0"/>
              </a:rPr>
              <a:t>Hoàn </a:t>
            </a:r>
            <a:r>
              <a:rPr lang="vi-VN">
                <a:cs typeface="Arial" panose="020B0604020202020204" pitchFamily="34" charset="0"/>
              </a:rPr>
              <a:t>thiện website bán rau củ hoạt động ổn định, đáp ứng các chức năng cốt lõi: xem sản phẩm, giỏ hàng, đặt hàng, theo dõi đơn</a:t>
            </a:r>
            <a:r>
              <a:rPr lang="vi-VN" smtClean="0">
                <a:cs typeface="Arial" panose="020B0604020202020204" pitchFamily="34" charset="0"/>
              </a:rPr>
              <a:t>.</a:t>
            </a:r>
            <a:endParaRPr lang="en-US" smtClean="0">
              <a:cs typeface="Arial" panose="020B0604020202020204" pitchFamily="34" charset="0"/>
            </a:endParaRPr>
          </a:p>
          <a:p>
            <a:pPr marL="285750" indent="-285750" algn="just">
              <a:lnSpc>
                <a:spcPct val="150000"/>
              </a:lnSpc>
              <a:buFont typeface="Wingdings" panose="05000000000000000000" pitchFamily="2" charset="2"/>
              <a:buChar char="Ø"/>
            </a:pPr>
            <a:r>
              <a:rPr lang="vi-VN" smtClean="0">
                <a:cs typeface="Arial" panose="020B0604020202020204" pitchFamily="34" charset="0"/>
              </a:rPr>
              <a:t>Hệ </a:t>
            </a:r>
            <a:r>
              <a:rPr lang="vi-VN">
                <a:cs typeface="Arial" panose="020B0604020202020204" pitchFamily="34" charset="0"/>
              </a:rPr>
              <a:t>thống cho phép quản lý thông tin cá nhân, địa chỉ giao hàng và lịch sử mua sắm; dữ liệu lưu trữ tập trung bằng MySQL, đảm bảo an toàn và nhất quán.</a:t>
            </a:r>
            <a:endParaRPr 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18105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72843">
              <a:srgbClr val="B7D2EC"/>
            </a:gs>
            <a:gs pos="71687">
              <a:srgbClr val="B8D2EB"/>
            </a:gs>
            <a:gs pos="69375">
              <a:srgbClr val="BAD2E9"/>
            </a:gs>
            <a:gs pos="64750">
              <a:srgbClr val="BED2E5"/>
            </a:gs>
            <a:gs pos="55500">
              <a:srgbClr val="C6D1DD"/>
            </a:gs>
            <a:gs pos="37000">
              <a:srgbClr val="D7CFCD"/>
            </a:gs>
            <a:gs pos="0">
              <a:schemeClr val="accent2">
                <a:lumMod val="40000"/>
                <a:lumOff val="6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TextBox 2"/>
          <p:cNvSpPr txBox="1"/>
          <p:nvPr/>
        </p:nvSpPr>
        <p:spPr>
          <a:xfrm>
            <a:off x="748937" y="2926079"/>
            <a:ext cx="10428514" cy="707886"/>
          </a:xfrm>
          <a:prstGeom prst="rect">
            <a:avLst/>
          </a:prstGeom>
          <a:noFill/>
        </p:spPr>
        <p:txBody>
          <a:bodyPr wrap="square" rtlCol="0">
            <a:spAutoFit/>
          </a:bodyPr>
          <a:lstStyle/>
          <a:p>
            <a:pPr algn="ctr"/>
            <a:r>
              <a:rPr lang="en-US" sz="4000" b="1" smtClean="0"/>
              <a:t>CẢM ƠN QUÝ THẦY CÔ ĐÃ LẮNG NGHE!</a:t>
            </a:r>
            <a:endParaRPr lang="en-US" sz="4000" b="1"/>
          </a:p>
        </p:txBody>
      </p:sp>
    </p:spTree>
    <p:extLst>
      <p:ext uri="{BB962C8B-B14F-4D97-AF65-F5344CB8AC3E}">
        <p14:creationId xmlns:p14="http://schemas.microsoft.com/office/powerpoint/2010/main" val="39723923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TotalTime>
  <Words>910</Words>
  <Application>Microsoft Office PowerPoint</Application>
  <PresentationFormat>Widescreen</PresentationFormat>
  <Paragraphs>52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Times New Roman</vt:lpstr>
      <vt:lpstr>Wingdings</vt:lpstr>
      <vt:lpstr>2_Office Theme</vt:lpstr>
      <vt:lpstr>TRƯỜNG KỸ THUẬT VÀ CÔNG NGHỆ KHOA CÔNG NGHỆ THÔNG TIN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TRÀ VINH KHOA KỸ THUẬT VÀ CÔNG NGHỆ</dc:title>
  <dc:creator>ACER</dc:creator>
  <cp:lastModifiedBy>Duy Huỳnh Khánh</cp:lastModifiedBy>
  <cp:revision>27</cp:revision>
  <dcterms:created xsi:type="dcterms:W3CDTF">2024-12-29T10:31:00Z</dcterms:created>
  <dcterms:modified xsi:type="dcterms:W3CDTF">2025-12-28T13:53:25Z</dcterms:modified>
</cp:coreProperties>
</file>